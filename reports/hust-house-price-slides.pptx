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15"/>
  </p:notesMasterIdLst>
  <p:handoutMasterIdLst>
    <p:handoutMasterId r:id="rId16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7"/>
    <p:sldId id="264" r:id="rId6"/>
    <p:sldId id="265" r:id="rId5"/>
    <p:sldId id="266" r:id="rId4"/>
    <p:sldId id="267" r:id="rId3"/>
    <p:sldId id="268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54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12/12/2022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12/12/2022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12/12/2022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1732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C00000"/>
                </a:solidFill>
              </a:rPr>
              <a:t>House Price Prediction for a Real Estate Listing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83280"/>
            <a:ext cx="5669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A3A3A"/>
                </a:solidFill>
              </a:rPr>
              <a:t>From raw data to a monitored, deployed valuation tool</a:t>
            </a:r>
          </a:p>
          <a:p>
            <a:pPr algn="l"/>
            <a:r>
              <a:rPr sz="1300" b="0">
                <a:solidFill>
                  <a:srgbClr val="3A3A3A"/>
                </a:solidFill>
              </a:rPr>
              <a:t>IT5315E Business Analytics — Group Project</a:t>
            </a:r>
          </a:p>
          <a:p>
            <a:pPr algn="l"/>
          </a:p>
          <a:p>
            <a:pPr algn="l"/>
            <a:r>
              <a:rPr sz="1200" b="0">
                <a:solidFill>
                  <a:srgbClr val="3A3A3A"/>
                </a:solidFill>
              </a:rPr>
              <a:t>Đỗ Hoàng Việt · Nguyễn Minh Huyền · Nguyễn Thị Huyền Trang · Bùi Tá Cường · Nguyễn Tiến Đức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The 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A3A3A"/>
                </a:solidFill>
              </a:rPr>
              <a:t>Mispricing hurts both sides: inflated asks scare buyers away; underpricing leaves the seller's money on the table.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A3A3A"/>
                </a:solidFill>
              </a:rPr>
              <a:t>Agents need a defensible estimate long before a formal appraisal — and need to know how much to trust it.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3A3A3A"/>
                </a:solidFill>
              </a:rPr>
              <a:t>Business question: given a property's characteristics and location, what is its market price — and how confident is that estimate?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A3A3A"/>
                </a:solidFill>
              </a:rPr>
              <a:t>Error tolerance: ~10% typical error is within negotiation margin; systematic bias beyond ~5% must trigger retraining.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A3A3A"/>
                </a:solidFill>
              </a:rPr>
              <a:t>Deliverable: a working valuation tool that returns an estimate with a calibrated confidence range.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A3A3A"/>
                </a:solidFill>
              </a:rPr>
              <a:t>Base: Kaggle Ames — 1,460 sales, 80 attributes.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A3A3A"/>
                </a:solidFill>
              </a:rPr>
              <a:t>Extension: 12 synthetic contextual fields, each documented (type, unit, range, assumption).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3A3A"/>
                </a:solidFill>
              </a:rPr>
              <a:t>Time axis anchored to the data's real sale dates: Jan 2006 – Jul 2010.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A3A3A"/>
                </a:solidFill>
              </a:rPr>
              <a:t>Macro overlay: interest-rate series; price index with boom, −10% crisis, +9.5% rebound in 2010.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A3A3A"/>
                </a:solidFill>
              </a:rPr>
              <a:t>All 175 sales of 2010 held out as the incoming stream for monitoring.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Data: real base + documented synthetic context</a:t>
            </a:r>
          </a:p>
        </p:txBody>
      </p:sp>
      <p:pic>
        <p:nvPicPr>
          <p:cNvPr id="5" name="Picture 4" descr="02_market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310938"/>
            <a:ext cx="4206240" cy="30590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Why the synthetic data can be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3A3A3A"/>
                </a:solidFill>
              </a:rPr>
              <a:t>Behavioral assumptions, generated conditionally: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Pricier neighborhoods sit closer to schools (realized r = −0.60); transit access deliberately unpriced (r ≈ 0.1).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Renovation costs consistent with the real remodel-year column; days-on-market lengthens in the 2008–09 cold market.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3A3A"/>
                </a:solidFill>
              </a:rPr>
              <a:t>Prices re-expressed under the synthetic market index (original Kaggle price preserved for audit):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A3A3A"/>
                </a:solidFill>
              </a:rPr>
              <a:t>Five seeded data-quality problems injected only pre-2010 — cleaning has real, verifiable work.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A3A3A"/>
                </a:solidFill>
              </a:rPr>
              <a:t>Every documented claim is enforced by automated tests; generation reproduces byte-for-byte.</a:t>
            </a:r>
          </a:p>
        </p:txBody>
      </p:sp>
      <p:pic>
        <p:nvPicPr>
          <p:cNvPr id="4" name="Picture 3" descr="pric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5188357"/>
            <a:ext cx="6949440" cy="458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A3A3A"/>
                </a:solidFill>
              </a:rPr>
              <a:t>Quality (r = 0.79) and living area (0.71) dominate.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A3A3A"/>
                </a:solidFill>
              </a:rPr>
              <a:t>Neighborhood is a 3.5× price lever — from $90k (MeadowV) to $313k (NridgHt) medians.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A3A3A"/>
                </a:solidFill>
              </a:rPr>
              <a:t>School proximity is priced in; bus access is not — an actionable platform insight.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A3A3A"/>
                </a:solidFill>
              </a:rPr>
              <a:t>Market moved: +5% boom, −10% crisis, 2010 rebound. A price model ages.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A3A3A"/>
                </a:solidFill>
              </a:rPr>
              <a:t>Price is right-skewed (1.93 → 0.12 after log), so models predict: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What drives price (EDA)</a:t>
            </a:r>
          </a:p>
        </p:txBody>
      </p:sp>
      <p:pic>
        <p:nvPicPr>
          <p:cNvPr id="5" name="Picture 4" descr="03_top_price_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74545"/>
            <a:ext cx="4480560" cy="2800350"/>
          </a:xfrm>
          <a:prstGeom prst="rect">
            <a:avLst/>
          </a:prstGeom>
        </p:spPr>
      </p:pic>
      <p:pic>
        <p:nvPicPr>
          <p:cNvPr id="6" name="Picture 5" descr="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5468680"/>
            <a:ext cx="3840480" cy="4469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Cleaning with before / after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7863838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7028"/>
                <a:gridCol w="1123405"/>
                <a:gridCol w="1123405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Problem (diagnosed cause)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Before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After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Duplicate listings (re-posted homes) — keep earliest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Free-text renovation labels (Y/yes/NO/…)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Days-on-market sentinel 999 → quarter-median impute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Transit distance entered in metres → ÷1000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Missing school distance → neighborhood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Kaggle "no such feature" NAs → explicit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7,480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Partial-sale outliers (Ids 524, 1299) → dropped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2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9496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1,472 listings in → 1,458 out. Every fix targets a diagnosed cause; the pipeline prints this table on every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Feature engineering &amp; multicollinearity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A3A3A"/>
                </a:solidFill>
              </a:rPr>
              <a:t>Derived: property age, years since remodel, total baths, renovation flag, amenity score.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3A3A"/>
                </a:solidFill>
              </a:rPr>
              <a:t>Leakage discipline — only what an agent knows at valuation time: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Excluded: days-on-market (an outcome), market price index (published with a lag).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Included: interest rate (public at listing time).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A3A3A"/>
                </a:solidFill>
              </a:rPr>
              <a:t>One variable per concept (garage cars not garage area, r=0.88); verified with variance inflation factors:</a:t>
            </a:r>
          </a:p>
        </p:txBody>
      </p:sp>
      <p:pic>
        <p:nvPicPr>
          <p:cNvPr id="4" name="Picture 3" descr="v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4205307"/>
            <a:ext cx="2377440" cy="8248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521208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A3A3A"/>
                </a:solidFill>
              </a:rPr>
              <a:t>Max VIF = 3.9 across 16 numeric features (threshold 10) — stable linear baselines.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Model comparison — 5-fold cross-validation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7680958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4088"/>
                <a:gridCol w="1212783"/>
                <a:gridCol w="1212783"/>
                <a:gridCol w="1010652"/>
                <a:gridCol w="1010652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MAE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MAPE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$23,409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$15,806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9.11%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0.914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Ridge (best point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$23,195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$15,573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8.99%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0.916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Lasso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$23,324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$15,670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9.04%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0.915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$29,509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$18,469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10.43%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0.863</a:t>
                      </a:r>
                    </a:p>
                  </a:txBody>
                  <a:tcPr/>
                </a:tc>
              </a:tr>
              <a:tr h="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A3A3A"/>
                          </a:solidFill>
                        </a:rPr>
                        <a:t>LightGBM (deployed, quantile)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$27,441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$17,334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9.78%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3A3A3A"/>
                          </a:solidFill>
                        </a:rPr>
                        <a:t>0.882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091" y="3977639"/>
            <a:ext cx="4807818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4864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Ridge wins points — log-price is near-linear in the drivers. We deploy quantile LightGBM anyway: the business asks for a calibrated range, and one coherent model beats stitching two families. Trade-off reported openly.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Honest uncertainty: quantile + conformal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A3A3A"/>
                </a:solidFill>
              </a:rPr>
              <a:t>Three LightGBM models trained on the pinball loss:</a:t>
            </a:r>
          </a:p>
        </p:txBody>
      </p:sp>
      <p:pic>
        <p:nvPicPr>
          <p:cNvPr id="4" name="Picture 3" descr="pin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49488"/>
            <a:ext cx="7315200" cy="3358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69748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3A3A3A"/>
                </a:solidFill>
              </a:rPr>
              <a:t>The raw p10–p90 band claimed 80% but covered only 59% of held-out prices. Conformalized quantile regression fixes it:</a:t>
            </a:r>
          </a:p>
        </p:txBody>
      </p:sp>
      <p:pic>
        <p:nvPicPr>
          <p:cNvPr id="6" name="Picture 5" descr="c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05374"/>
            <a:ext cx="7498079" cy="11445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46320"/>
            <a:ext cx="8138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A3A3A"/>
                </a:solidFill>
              </a:rPr>
              <a:t>Verified coverage after calibration: 80.5% (target 80%).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A3A3A"/>
                </a:solidFill>
              </a:rPr>
              <a:t>Width behaves honestly: ≈$35k for a typical home, ≈$78k for high-value homes — the UI says when to escalate to an appraisal.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Live demo — the valuation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A3A3A"/>
                </a:solidFill>
              </a:rPr>
              <a:t>https://house-price-analytics-tjpb7ntxsd6kzbapp7bymmv.streamlit.app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A3A3A"/>
                </a:solidFill>
              </a:rPr>
              <a:t>Scenario A — typical home: NAmes, 1,500 sq ft, quality 5 → tight range (±13%).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A3A3A"/>
                </a:solidFill>
              </a:rPr>
              <a:t>Scenario B — high-value home: NridgHt, 3,200 sq ft, quality 9 → wide range + “consider an appraisal”.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A3A3A"/>
                </a:solidFill>
              </a:rPr>
              <a:t>Same model behind a REST API: POST /predict (FastAPI, OpenAPI docs).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3A3A3A"/>
                </a:solidFill>
              </a:rPr>
              <a:t>Risk control: link warmed before the talk; identical local fallback ready (streamlit run app/streamlit_app.py).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A3A3A"/>
                </a:solidFill>
              </a:rPr>
              <a:t>2010 stream replayed month-by-month (rolling 3-month window) with Evidently.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A3A3A"/>
                </a:solidFill>
              </a:rPr>
              <a:t>Four triggers, defined before looking: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3A3A3A"/>
                </a:solidFill>
              </a:rPr>
              <a:t>T1 input drift: &gt;30% features drift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3A3A3A"/>
                </a:solidFill>
              </a:rPr>
              <a:t>T2 error: RMSE &gt;1.25× baseline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3A3A3A"/>
                </a:solidFill>
              </a:rPr>
              <a:t>T3 bias: |mean error| &gt;5% of median</a:t>
            </a:r>
          </a:p>
          <a:p>
            <a:pPr lvl="1">
              <a:spcAft>
                <a:spcPts val="800"/>
              </a:spcAft>
            </a:pPr>
            <a:r>
              <a:rPr sz="1200" b="0">
                <a:solidFill>
                  <a:srgbClr val="3A3A3A"/>
                </a:solidFill>
              </a:rPr>
              <a:t>T4 coverage: 80% range covers &lt;65%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A3A3A"/>
                </a:solidFill>
              </a:rPr>
              <a:t>Verdict: retrain from Mar 2010. Bias reaches −7.9% as the rebound outruns the training window.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A3A3A"/>
                </a:solidFill>
              </a:rPr>
              <a:t>Input drift says things changed; error/bias monitors prove it matters.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Monitoring: the model watches itself age</a:t>
            </a:r>
          </a:p>
        </p:txBody>
      </p:sp>
      <p:pic>
        <p:nvPicPr>
          <p:cNvPr id="5" name="Picture 4" descr="09_monitorin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690370"/>
            <a:ext cx="4160520" cy="43916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3A3A3A"/>
                </a:solidFill>
              </a:rPr>
              <a:t>For the platform: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Price on quality + location first; school proximity is the amenity that is actually priced.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Always show the range — it converts a black box into a negotiation aid.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Treat the model as perishable: it drifted beyond tolerance within ~3 months; budget quarterly retraining.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3A3A3A"/>
                </a:solidFill>
              </a:rPr>
              <a:t>Limitations: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Contextual layer is synthetic — documented and test-enforced, but real amenity data would shift coefficients.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Prices at 2010 Ames level; new markets need local data.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Cheapest decile over-predicted; segment model is future work.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A3A3A"/>
                </a:solidFill>
              </a:rPr>
              <a:t>Retraining recommended by triggers, not yet automated.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/>
              <a:t>Recommendations &amp; limitations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0" y="265176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C00000"/>
                </a:solidFill>
              </a:rPr>
              <a:t>THANK YOU 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0" y="38404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A3A3A"/>
                </a:solidFill>
              </a:rPr>
              <a:t>Live tool: house-price-analytics-tjpb7ntxsd6kzbapp7bymmv.streamlit.app</a:t>
            </a:r>
          </a:p>
          <a:p>
            <a:pPr algn="ctr"/>
            <a:r>
              <a:rPr sz="1200" b="0">
                <a:solidFill>
                  <a:srgbClr val="3A3A3A"/>
                </a:solidFill>
              </a:rPr>
              <a:t>Code: github.com/ducnt3/house-price-analytics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</TotalTime>
  <Words>25</Words>
  <Application>Microsoft Office PowerPoint</Application>
  <PresentationFormat>Trình chiếu Trên màn hình (4:3)</PresentationFormat>
  <Paragraphs>15</Paragraphs>
  <Slides>13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13</vt:i4>
      </vt:variant>
    </vt:vector>
  </HeadingPairs>
  <TitlesOfParts>
    <vt:vector size="17" baseType="lpstr">
      <vt:lpstr>Arial</vt:lpstr>
      <vt:lpstr>Calibri</vt:lpstr>
      <vt:lpstr>Lato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HUST CCPR</cp:lastModifiedBy>
  <cp:revision>13</cp:revision>
  <dcterms:created xsi:type="dcterms:W3CDTF">2021-05-28T04:32:29Z</dcterms:created>
  <dcterms:modified xsi:type="dcterms:W3CDTF">2022-12-12T05:09:13Z</dcterms:modified>
</cp:coreProperties>
</file>