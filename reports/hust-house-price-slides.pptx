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</p:sldMasterIdLst>
  <p:notesMasterIdLst>
    <p:notesMasterId r:id="rId15"/>
  </p:notesMasterIdLst>
  <p:handoutMasterIdLst>
    <p:handoutMasterId r:id="rId16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7"/>
    <p:sldId id="264" r:id="rId6"/>
    <p:sldId id="265" r:id="rId5"/>
    <p:sldId id="266" r:id="rId4"/>
    <p:sldId id="267" r:id="rId3"/>
    <p:sldId id="268" r:id="rId2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1546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8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12/12/2022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12/12/2022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5980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6">
            <a:extLst>
              <a:ext uri="{FF2B5EF4-FFF2-40B4-BE49-F238E27FC236}">
                <a16:creationId xmlns:a16="http://schemas.microsoft.com/office/drawing/2014/main" id="{C5DD3B49-F775-49FC-ACAD-45B074D1C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80488" y="2365248"/>
            <a:ext cx="4383024" cy="2127504"/>
          </a:xfrm>
          <a:prstGeom prst="rect">
            <a:avLst/>
          </a:prstGeom>
        </p:spPr>
        <p:txBody>
          <a:bodyPr/>
          <a:lstStyle>
            <a:lvl1pPr algn="ctr">
              <a:defRPr sz="4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8804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494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44DCE4FD-DEE1-4DE9-A40E-616ACEB2FE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 ………………………………………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90DFCEB3-810D-48E5-B7BA-1A6C924A64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30339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7547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2: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314880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3: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963168"/>
            <a:ext cx="8674100" cy="513283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985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1353402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6">
            <a:extLst>
              <a:ext uri="{FF2B5EF4-FFF2-40B4-BE49-F238E27FC236}">
                <a16:creationId xmlns:a16="http://schemas.microsoft.com/office/drawing/2014/main" id="{689FBFE6-E7AD-40DE-88B8-794C73F956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11295" y="224917"/>
            <a:ext cx="5397627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5: ……………………………………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1C2ED7A5-CBB5-4B5C-BD2A-3596087A71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24251" y="1011238"/>
            <a:ext cx="5384672" cy="552926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E21F2271-B488-4DC9-A50E-592D82F22CE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06E966D-F219-41DE-82BF-3F3121B7D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F61A491-C108-489A-B2EA-9FC27DAD4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388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40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227550"/>
            <a:ext cx="8674100" cy="486844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34231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164920"/>
            <a:ext cx="8674100" cy="493107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4829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6EAE966-F590-4BAF-A55B-75735FCC66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30CA1C-4366-43E8-9DC8-B360FC115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2DB13F6-9193-4FE2-AE85-5B96248C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04625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8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83" r:id="rId7"/>
    <p:sldLayoutId id="2147483676" r:id="rId8"/>
    <p:sldLayoutId id="2147483679" r:id="rId9"/>
    <p:sldLayoutId id="2147483680" r:id="rId10"/>
    <p:sldLayoutId id="2147483681" r:id="rId11"/>
    <p:sldLayoutId id="2147483682" r:id="rId12"/>
    <p:sldLayoutId id="2147483678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house-price-analytics-tjpb7ntxsd6kzbapp7bymmv.streamlit.app/" TargetMode="External"/><Relationship Id="rId3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hyperlink" Target="https://house-price-analytics-tjpb7ntxsd6kzbapp7bymmv.streamlit.app/" TargetMode="External"/><Relationship Id="rId3" Type="http://schemas.openxmlformats.org/officeDocument/2006/relationships/hyperlink" Target="https://github.com/ducnt3/house-price-analytic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43000"/>
            <a:ext cx="5852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C00000"/>
                </a:solidFill>
              </a:rPr>
              <a:t>House Price Prediction for a Real Estate Listing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880360"/>
            <a:ext cx="5669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From raw data to a monitored, deployed valuation tool</a:t>
            </a:r>
          </a:p>
          <a:p>
            <a:pPr algn="l"/>
            <a:r>
              <a:rPr sz="1300" b="0">
                <a:solidFill>
                  <a:srgbClr val="2B2B2B"/>
                </a:solidFill>
              </a:rPr>
              <a:t>IT5315E Business Analytics — Group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79476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</a:rPr>
              <a:t>Đỗ Hoàng Việt  —  20252744M</a:t>
            </a:r>
          </a:p>
          <a:p>
            <a:pPr algn="l"/>
            <a:r>
              <a:rPr sz="1200" b="0">
                <a:solidFill>
                  <a:srgbClr val="2B2B2B"/>
                </a:solidFill>
              </a:rPr>
              <a:t>Nguyễn Minh Huyền  —  20252007M</a:t>
            </a:r>
          </a:p>
          <a:p>
            <a:pPr algn="l"/>
            <a:r>
              <a:rPr sz="1200" b="0">
                <a:solidFill>
                  <a:srgbClr val="2B2B2B"/>
                </a:solidFill>
              </a:rPr>
              <a:t>Nguyễn Thị Huyền Trang  —  20251322M</a:t>
            </a:r>
          </a:p>
          <a:p>
            <a:pPr algn="l"/>
            <a:r>
              <a:rPr sz="1200" b="0">
                <a:solidFill>
                  <a:srgbClr val="2B2B2B"/>
                </a:solidFill>
              </a:rPr>
              <a:t>Bùi Tá Cường  —  20242430M</a:t>
            </a:r>
          </a:p>
          <a:p>
            <a:pPr algn="l"/>
            <a:r>
              <a:rPr sz="1200" b="0">
                <a:solidFill>
                  <a:srgbClr val="2B2B2B"/>
                </a:solidFill>
              </a:rPr>
              <a:t>Nguyễn Tiến Đức  —  20252076M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B2B2B"/>
                </a:solidFill>
              </a:rPr>
              <a:t>1. The business problem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B2B2B"/>
                </a:solidFill>
              </a:rPr>
              <a:t>2. Data: real base + synthetic context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B2B2B"/>
                </a:solidFill>
              </a:rPr>
              <a:t>3. Exploratory analysis — what drives price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B2B2B"/>
                </a:solidFill>
              </a:rPr>
              <a:t>4. Data cleaning with evidence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B2B2B"/>
                </a:solidFill>
              </a:rPr>
              <a:t>5. Features &amp; multicollinearity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B2B2B"/>
                </a:solidFill>
              </a:rPr>
              <a:t>6. Model comparison (5-fold CV)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B2B2B"/>
                </a:solidFill>
              </a:rPr>
              <a:t>7. Calibrated confidence intervals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B2B2B"/>
                </a:solidFill>
              </a:rPr>
              <a:t>8. Live demo — the valuation tool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B2B2B"/>
                </a:solidFill>
              </a:rPr>
              <a:t>9. Monitoring &amp; retraining triggers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B2B2B"/>
                </a:solidFill>
              </a:rPr>
              <a:t>10. Recommendations &amp; limitations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The business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B2B2B"/>
                </a:solidFill>
              </a:rPr>
              <a:t>Mispricing hurts both sides: inflated asks scare buyers away; underpricing leaves the seller's money on the table.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B2B2B"/>
                </a:solidFill>
              </a:rPr>
              <a:t>Agents need a defensible estimate long before a formal appraisal — and need to know how much to trust it.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B2B2B"/>
                </a:solidFill>
              </a:rPr>
              <a:t>Business question: given a property's characteristics and location, what is its market price — and how confident is that estimate?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B2B2B"/>
                </a:solidFill>
              </a:rPr>
              <a:t>$180k ± $18k → list with confidence.  $180k ± $70k → order an appraisal first. The range changes the decision.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B2B2B"/>
                </a:solidFill>
              </a:rPr>
              <a:t>KPIs: typical error ≤ ~10% (negotiation margin); calibrated uncertainty; systematic bias ≤ 5%; a working deployment with monitoring.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B2B2B"/>
                </a:solidFill>
              </a:rPr>
              <a:t>Base: Kaggle Ames — 1,460 sales, 80 attributes.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B2B2B"/>
                </a:solidFill>
              </a:rPr>
              <a:t>Extension: 12 synthetic contextual fields, each documented (type, unit, range, assumption).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B2B2B"/>
                </a:solidFill>
              </a:rPr>
              <a:t>Time axis anchored to the data's real sale dates: Jan 2006 – Jul 2010.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B2B2B"/>
                </a:solidFill>
              </a:rPr>
              <a:t>Macro overlay: interest-rate series; price index with boom, −10% crisis, +9.5% rebound in 2010.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B2B2B"/>
                </a:solidFill>
              </a:rPr>
              <a:t>All 175 sales of 2010 held out as the incoming stream for monitoring.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Data: real base + documented synthetic context</a:t>
            </a:r>
          </a:p>
        </p:txBody>
      </p:sp>
      <p:pic>
        <p:nvPicPr>
          <p:cNvPr id="5" name="Picture 4" descr="02_market_over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310938"/>
            <a:ext cx="4206240" cy="305908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Why the synthetic data can be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B2B2B"/>
                </a:solidFill>
              </a:rPr>
              <a:t>Behavioral assumptions, generated conditionally: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B2B2B"/>
                </a:solidFill>
              </a:rPr>
              <a:t>Pricier neighborhoods sit closer to schools (realized r = −0.60); transit access deliberately unpriced (r ≈ 0.1).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B2B2B"/>
                </a:solidFill>
              </a:rPr>
              <a:t>Renovation costs consistent with the real remodel-year column; days-on-market lengthens in the 2008–09 cold market.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B2B2B"/>
                </a:solidFill>
              </a:rPr>
              <a:t>Prices re-expressed under the synthetic market index (original Kaggle price preserved for audit):</a:t>
            </a:r>
          </a:p>
        </p:txBody>
      </p:sp>
      <p:pic>
        <p:nvPicPr>
          <p:cNvPr id="4" name="Picture 3" descr="pric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632568"/>
            <a:ext cx="7498079" cy="5529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480560"/>
            <a:ext cx="795527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2B2B2B"/>
                </a:solidFill>
              </a:rPr>
              <a:t>Every documented claim is enforced by automated tests; generation reproduces byte-for-byte from a fixed seed.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B2B2B"/>
                </a:solidFill>
              </a:rPr>
              <a:t>The +9.5% rebound lives only inside the monitoring stream — the designed, explainable drift signal.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Designed imperfections — so cleaning is real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7863840" cy="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2272"/>
                <a:gridCol w="4543552"/>
                <a:gridCol w="1398016"/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Field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Injected problem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Rate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dist_school_km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Missing — blank at listing entry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2% (26 rows)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renovated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Free-text labels: Y / yes / YES / N / no /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4% (51)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days_on_market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Legacy sentinel 999 = "unknown"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0.4% (5)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dist_transit_km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Entered in metres instead of km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0.3% (4)</a:t>
                      </a:r>
                    </a:p>
                  </a:txBody>
                  <a:tcPr/>
                </a:tc>
              </a:tr>
              <a:tr h="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whole 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Home re-posted under a new listing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12 rows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06240"/>
            <a:ext cx="7863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</a:rPr>
              <a:t>Injected only into synthetic fields, only before 2010 — the monitoring stream stays clean, so drift is never confused with dirt.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B2B2B"/>
                </a:solidFill>
              </a:rPr>
              <a:t>Ground truth is known → cleaning quality can be proven, not assumed.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EDA 1/4 — the target is right-skewed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pic>
        <p:nvPicPr>
          <p:cNvPr id="4" name="Picture 3" descr="01_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716578"/>
            <a:ext cx="7315200" cy="23275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26280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</a:rPr>
              <a:t>Median $162.9k vs mean $181.4k, tail to $779k; skew 1.93 → 0.12 after log. All models predict:</a:t>
            </a:r>
          </a:p>
        </p:txBody>
      </p:sp>
      <p:pic>
        <p:nvPicPr>
          <p:cNvPr id="6" name="Picture 5" descr="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5374802"/>
            <a:ext cx="3840480" cy="4975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Quality (r = 0.79) and living area (0.71) dominate — median price quadruples from quality 3 ($85k) to 9 ($346k).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Synthetic amenities behave as designed: school −0.60, hospital −0.58, transit ≈ +0.1.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renovation_cost (0.69) is partly derivative — generated from area × quality; flagged for the VIF check.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EDA 2/4 — what drives price</a:t>
            </a:r>
          </a:p>
        </p:txBody>
      </p:sp>
      <p:pic>
        <p:nvPicPr>
          <p:cNvPr id="5" name="Picture 4" descr="03_top_price_dri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074545"/>
            <a:ext cx="4480560" cy="28003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EDA 3/4 — quality, size, and two notorious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pic>
        <p:nvPicPr>
          <p:cNvPr id="4" name="Picture 3" descr="04_quality_area_out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88236"/>
            <a:ext cx="7498078" cy="26243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212079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</a:rPr>
              <a:t>Two homes &gt; 4,000 sq ft sold far below trend (Ids 524, 1299) — known Ames partial sales, dropped in cleaning with justification.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EDA 4/4 — location is a 3.5× price lever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pic>
        <p:nvPicPr>
          <p:cNvPr id="4" name="Picture 3" descr="05_neighborhood_p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1325880"/>
            <a:ext cx="6286500" cy="2286000"/>
          </a:xfrm>
          <a:prstGeom prst="rect">
            <a:avLst/>
          </a:prstGeom>
        </p:spPr>
      </p:pic>
      <p:pic>
        <p:nvPicPr>
          <p:cNvPr id="5" name="Picture 4" descr="06_amenity_distan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703320"/>
            <a:ext cx="6400800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71500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2B2B2B"/>
                </a:solidFill>
              </a:rPr>
              <a:t>Medians $90k (MeadowV) → $313k (NridgHt). School proximity is priced in; bus access is not — an actionable platform insight.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Four pairs above |r| = 0.8: garage cars/area (0.88), rooms/area (0.83), 1st-floor/basement (0.82), build/garage year (0.83).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Kept one variable per concept; verified with variance inflation: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Redundant variables — mapped, then pruned</a:t>
            </a:r>
          </a:p>
        </p:txBody>
      </p:sp>
      <p:pic>
        <p:nvPicPr>
          <p:cNvPr id="5" name="Picture 4" descr="07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872114"/>
            <a:ext cx="4754880" cy="3753852"/>
          </a:xfrm>
          <a:prstGeom prst="rect">
            <a:avLst/>
          </a:prstGeom>
        </p:spPr>
      </p:pic>
      <p:pic>
        <p:nvPicPr>
          <p:cNvPr id="6" name="Picture 5" descr="vi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3453657"/>
            <a:ext cx="2377440" cy="7736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0" y="448056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B2B2B"/>
                </a:solidFill>
              </a:rPr>
              <a:t>Max VIF = 3.9 across 16 numeric features (threshold 10) — stable, interpretable linear baselines.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Cleaning with before / after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17320"/>
          <a:ext cx="7863838" cy="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7028"/>
                <a:gridCol w="1123405"/>
                <a:gridCol w="1123405"/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Problem (diagnosed cause)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Before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After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Duplicate listings (re-posted homes) — keep earliest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Free-text renovation labels (Y/yes/NO/…)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Days-on-market sentinel 999 → quarter-median impute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Transit distance entered in metres → ÷1000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Missing school distance → neighborhood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Kaggle "no such feature" NAs → explicit 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7,480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LotFrontage → neighborhood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259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Partial-sale outliers (Ids 524, 1299) → dropped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2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44068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B2B2B"/>
                </a:solidFill>
              </a:rPr>
              <a:t>1,472 listings in → 1,458 out. Every fix targets a diagnosed cause; the pipeline prints this table on every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Feature engineering &amp; leakage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B2B2B"/>
                </a:solidFill>
              </a:rPr>
              <a:t>Derived: property age, years since remodel, total baths, renovation flag &amp; cost, amenity score, listing month.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B2B2B"/>
                </a:solidFill>
              </a:rPr>
              <a:t>Only what an agent knows at valuation time: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B2B2B"/>
                </a:solidFill>
              </a:rPr>
              <a:t>Excluded: days-on-market — an outcome of the listing, unknown on pricing day.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B2B2B"/>
                </a:solidFill>
              </a:rPr>
              <a:t>Excluded: market price index — published with a lag; feeding the current value would be look-ahead leakage (and would let the model “see” the 2010 rebound).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B2B2B"/>
                </a:solidFill>
              </a:rPr>
              <a:t>Included: interest rate — public on listing day.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B2B2B"/>
                </a:solidFill>
              </a:rPr>
              <a:t>Final feature contract: 16 numeric + 6 categorical variables.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Model comparison — 5-fold cross-validation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7680958" cy="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4088"/>
                <a:gridCol w="1212783"/>
                <a:gridCol w="1212783"/>
                <a:gridCol w="1010652"/>
                <a:gridCol w="1010652"/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MAPE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Linear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$23,409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$15,806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9.11%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0.914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Ridge (best point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$23,195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$15,573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8.99%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0.916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Lasso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$23,324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$15,670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9.04%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0.915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$29,509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$18,469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10.43%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0.863</a:t>
                      </a:r>
                    </a:p>
                  </a:txBody>
                  <a:tcPr/>
                </a:tc>
              </a:tr>
              <a:tr h="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LightGBM (deployed, quantile)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$27,441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$17,334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9.78%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</a:rPr>
                        <a:t>0.882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metrics_err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865" y="3886200"/>
            <a:ext cx="5664269" cy="868680"/>
          </a:xfrm>
          <a:prstGeom prst="rect">
            <a:avLst/>
          </a:prstGeom>
        </p:spPr>
      </p:pic>
      <p:pic>
        <p:nvPicPr>
          <p:cNvPr id="6" name="Picture 5" descr="metrics_rela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549" y="4800600"/>
            <a:ext cx="4846902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80644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2B2B2B"/>
                </a:solidFill>
              </a:rPr>
              <a:t>Log-price is near-linear in the drivers and n ≈ 1,300 favors low-variance models — Ridge wins the point contest.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Residual analysis — where the model is honest, and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pic>
        <p:nvPicPr>
          <p:cNvPr id="4" name="Picture 3" descr="08_residual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06880"/>
            <a:ext cx="7863840" cy="2621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800600"/>
            <a:ext cx="7863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>No trend vs fitted values; deciles 2–9 unbiased.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</a:rPr>
              <a:t>Cheapest decile over-predicted (+13%), priciest slightly under (−4.7%) — classic shrinkage; flagged as a limitation and covered by wider intervals exactly there.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Model choice: accuracy is not the 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B2B2B"/>
                </a:solidFill>
              </a:rPr>
              <a:t>The business asks for a per-home confidence range, not just a number.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B2B2B"/>
                </a:solidFill>
              </a:rPr>
              <a:t>Deployed: three LightGBM models (p10 / p50 / p90) trained on the pinball loss — feature-dependent intervals natively:</a:t>
            </a:r>
          </a:p>
        </p:txBody>
      </p:sp>
      <p:pic>
        <p:nvPicPr>
          <p:cNvPr id="4" name="Picture 3" descr="pinb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17538"/>
            <a:ext cx="7680960" cy="4285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3749039"/>
            <a:ext cx="795527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</a:rPr>
              <a:t>One coherent model family — no stitching a Ridge point onto someone else's interval (mismatched band, two failure modes).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</a:rPr>
              <a:t>Cost: 9.78% vs 8.99% MAPE — immaterial against the negotiation-margin KPI; the comparison is reported, not hidden.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The naive band lies — conformal calibration fixes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B2B2B"/>
                </a:solidFill>
              </a:rPr>
              <a:t>On 257 held-out sales, the raw p10–p90 band claimed 80% but covered only 59.1%. CQR measures the shortfall…</a:t>
            </a:r>
          </a:p>
        </p:txBody>
      </p:sp>
      <p:pic>
        <p:nvPicPr>
          <p:cNvPr id="5" name="Picture 4" descr="cqr_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324100"/>
            <a:ext cx="6766559" cy="563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154680"/>
            <a:ext cx="7955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B2B2B"/>
                </a:solidFill>
              </a:rPr>
              <a:t>…and widens the band by the empirical quantile of the scores:</a:t>
            </a:r>
          </a:p>
        </p:txBody>
      </p:sp>
      <p:pic>
        <p:nvPicPr>
          <p:cNvPr id="7" name="Picture 6" descr="cqr_interv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873284"/>
            <a:ext cx="7498079" cy="4373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4663440"/>
            <a:ext cx="79552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B2B2B"/>
                </a:solidFill>
              </a:rPr>
              <a:t>Verified coverage after calibration: 80.5% (target 80%).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</a:rPr>
              <a:t>Width scales honestly: ≈$35k typical · ≈$41k mid · ≈$78k high-value tercile — wide range ⇒ “consider an appraisal”.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C00000"/>
                </a:solidFill>
                <a:hlinkClick r:id="rId2"/>
              </a:rPr>
              <a:t>Open the live tool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Scenario A — typical: NAmes, 1,500 sq ft, quality 5 → tight range (±13%).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Scenario B — high-value: NridgHt, 3,200 sq ft, quality 9 → wide range + appraisal advice.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Same model behind a REST API: POST /predict (FastAPI, OpenAPI docs).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Risk control: link warmed before the talk; identical local fallback ready.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Live demo — the valuation tool</a:t>
            </a:r>
          </a:p>
        </p:txBody>
      </p:sp>
      <p:pic>
        <p:nvPicPr>
          <p:cNvPr id="5" name="Picture 4" descr="app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2350651"/>
            <a:ext cx="4434840" cy="297965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Monitoring design — four triggers, fixed in advance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63040"/>
          <a:ext cx="8138159" cy="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9118"/>
                <a:gridCol w="3446750"/>
                <a:gridCol w="2872291"/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Trigger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Definition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Why it matters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T1  Data drift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&gt; 30% of features drift (Evidently, ≥40-row window)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The world changed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T2  Performance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Rolling RMSE &gt; 1.25 × baseline ($24.4k)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Errors grew materially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T3  Systematic 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|mean error| &gt; 5% of median 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One-directional mispricing distorts the platform</a:t>
                      </a:r>
                    </a:p>
                  </a:txBody>
                  <a:tcPr/>
                </a:tc>
              </a:tr>
              <a:tr h="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</a:rPr>
                        <a:t>T4  Interval health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80% range covers &lt; 65%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The confidence promise is breaking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7863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B2B2B"/>
                </a:solidFill>
              </a:rPr>
              <a:t>Thresholds committed before replaying the stream — no tuning alerts until they fire.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</a:rPr>
              <a:t>Rolling 3-month windows: single months (6–48 sales) are too small — a 10-row window flags every feature as drifted (verified noise).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Jan–Feb: healthy (errors below baseline, coverage on target).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B2B2B"/>
                </a:solidFill>
              </a:rPr>
              <a:t>March: RMSE spike + drift over threshold → first retrain signal.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Apr–Jul: bias marches −0.4% → −7.9% as the rebound outruns the training window; coverage sags to ~73%.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B2B2B"/>
                </a:solidFill>
              </a:rPr>
              <a:t>Verdict: retrain from March 2010.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B2B2B"/>
                </a:solidFill>
              </a:rPr>
              <a:t>Lesson: input drift says things changed; error &amp; bias monitors prove it matters.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2010 replay: the model ages — and says so</a:t>
            </a:r>
          </a:p>
        </p:txBody>
      </p:sp>
      <p:pic>
        <p:nvPicPr>
          <p:cNvPr id="5" name="Picture 4" descr="09_monitorin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690370"/>
            <a:ext cx="4160520" cy="43916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B2B2B"/>
                </a:solidFill>
              </a:rPr>
              <a:t>For the platform: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2B2B2B"/>
                </a:solidFill>
              </a:rPr>
              <a:t>Price on quality + location first; school proximity is the amenity actually priced.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2B2B2B"/>
                </a:solidFill>
              </a:rPr>
              <a:t>Always show the range — it turns a black box into a negotiation aid.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2B2B2B"/>
                </a:solidFill>
              </a:rPr>
              <a:t>Treat the model as perishable: drifted beyond tolerance in ~3 months; budget quarterly retraining.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2B2B2B"/>
                </a:solidFill>
              </a:rPr>
              <a:t>Route wide-interval homes to appraisal as a premium service.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B2B2B"/>
                </a:solidFill>
              </a:rPr>
              <a:t>Limitations: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2B2B2B"/>
                </a:solidFill>
              </a:rPr>
              <a:t>Contextual layer is synthetic — documented and test-enforced, but real data would shift coefficients.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2B2B2B"/>
                </a:solidFill>
              </a:rPr>
              <a:t>Prices at the 2010 Ames level; new markets need local data.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2B2B2B"/>
                </a:solidFill>
              </a:rPr>
              <a:t>Cheapest decile over-predicted; segment model is future work.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2B2B2B"/>
                </a:solidFill>
              </a:rPr>
              <a:t>Retraining recommended by triggers, not yet automated.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Recommendations &amp; limitations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0" y="265176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C00000"/>
                </a:solidFill>
              </a:rPr>
              <a:t>THANK YOU 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0" y="38404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B2B2B"/>
                </a:solidFill>
                <a:hlinkClick r:id="rId2"/>
              </a:rPr>
              <a:t>Live tool: house-price-analytics-tjpb7ntxsd6kzbapp7bymmv.streamlit.app</a:t>
            </a:r>
          </a:p>
          <a:p>
            <a:pPr algn="ctr"/>
            <a:r>
              <a:rPr sz="1200" b="0">
                <a:solidFill>
                  <a:srgbClr val="2B2B2B"/>
                </a:solidFill>
                <a:hlinkClick r:id="rId3"/>
              </a:rPr>
              <a:t>Code: github.com/ducnt3/house-price-analytics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152</TotalTime>
  <Words>25</Words>
  <Application>Microsoft Office PowerPoint</Application>
  <PresentationFormat>Trình chiếu Trên màn hình (4:3)</PresentationFormat>
  <Paragraphs>15</Paragraphs>
  <Slides>13</Slides>
  <Notes>0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13</vt:i4>
      </vt:variant>
    </vt:vector>
  </HeadingPairs>
  <TitlesOfParts>
    <vt:vector size="17" baseType="lpstr">
      <vt:lpstr>Arial</vt:lpstr>
      <vt:lpstr>Calibri</vt:lpstr>
      <vt:lpstr>Lato</vt:lpstr>
      <vt:lpstr>Office Theme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HUST CCPR</cp:lastModifiedBy>
  <cp:revision>13</cp:revision>
  <dcterms:created xsi:type="dcterms:W3CDTF">2021-05-28T04:32:29Z</dcterms:created>
  <dcterms:modified xsi:type="dcterms:W3CDTF">2022-12-12T05:09:13Z</dcterms:modified>
</cp:coreProperties>
</file>